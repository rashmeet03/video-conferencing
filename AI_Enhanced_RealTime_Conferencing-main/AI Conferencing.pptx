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3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media/image3.jpeg" ContentType="image/jpe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7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207720" y="-23400"/>
            <a:ext cx="8728200" cy="234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5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28600" y="4108320"/>
            <a:ext cx="5789160" cy="87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5000" strike="noStrike" u="non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xx%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741000" y="1401120"/>
            <a:ext cx="2174040" cy="351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28600" y="230400"/>
            <a:ext cx="868680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title"/>
          </p:nvPr>
        </p:nvSpPr>
        <p:spPr>
          <a:xfrm>
            <a:off x="228600" y="2551680"/>
            <a:ext cx="725040" cy="40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Spline Sans Medium"/>
                <a:ea typeface="Spline Sans Medium"/>
              </a:rPr>
              <a:t>xx%</a:t>
            </a:r>
            <a:endParaRPr b="0" lang="fr-FR" sz="1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title"/>
          </p:nvPr>
        </p:nvSpPr>
        <p:spPr>
          <a:xfrm>
            <a:off x="228600" y="3198960"/>
            <a:ext cx="725040" cy="40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Spline Sans Medium"/>
                <a:ea typeface="Spline Sans Medium"/>
              </a:rPr>
              <a:t>xx%</a:t>
            </a:r>
            <a:endParaRPr b="0" lang="fr-FR" sz="1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title"/>
          </p:nvPr>
        </p:nvSpPr>
        <p:spPr>
          <a:xfrm>
            <a:off x="228600" y="3845880"/>
            <a:ext cx="725040" cy="40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Spline Sans Medium"/>
                <a:ea typeface="Spline Sans Medium"/>
              </a:rPr>
              <a:t>xx%</a:t>
            </a:r>
            <a:endParaRPr b="0" lang="fr-FR" sz="1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title"/>
          </p:nvPr>
        </p:nvSpPr>
        <p:spPr>
          <a:xfrm>
            <a:off x="228600" y="4492800"/>
            <a:ext cx="725040" cy="39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Spline Sans Medium"/>
                <a:ea typeface="Spline Sans Medium"/>
              </a:rPr>
              <a:t>xx%</a:t>
            </a:r>
            <a:endParaRPr b="0" lang="fr-FR" sz="1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title"/>
          </p:nvPr>
        </p:nvSpPr>
        <p:spPr>
          <a:xfrm>
            <a:off x="3851280" y="2551680"/>
            <a:ext cx="725040" cy="40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Spline Sans Medium"/>
                <a:ea typeface="Spline Sans Medium"/>
              </a:rPr>
              <a:t>xx%</a:t>
            </a:r>
            <a:endParaRPr b="0" lang="fr-FR" sz="1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7"/>
          <p:cNvSpPr>
            <a:spLocks noGrp="1"/>
          </p:cNvSpPr>
          <p:nvPr>
            <p:ph type="title"/>
          </p:nvPr>
        </p:nvSpPr>
        <p:spPr>
          <a:xfrm>
            <a:off x="3851280" y="3198960"/>
            <a:ext cx="725040" cy="40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Spline Sans Medium"/>
                <a:ea typeface="Spline Sans Medium"/>
              </a:rPr>
              <a:t>xx%</a:t>
            </a:r>
            <a:endParaRPr b="0" lang="fr-FR" sz="1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8"/>
          <p:cNvSpPr>
            <a:spLocks noGrp="1"/>
          </p:cNvSpPr>
          <p:nvPr>
            <p:ph type="title"/>
          </p:nvPr>
        </p:nvSpPr>
        <p:spPr>
          <a:xfrm>
            <a:off x="3851280" y="3845880"/>
            <a:ext cx="725040" cy="40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Spline Sans Medium"/>
                <a:ea typeface="Spline Sans Medium"/>
              </a:rPr>
              <a:t>xx%</a:t>
            </a:r>
            <a:endParaRPr b="0" lang="fr-FR" sz="1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9"/>
          <p:cNvSpPr>
            <a:spLocks noGrp="1"/>
          </p:cNvSpPr>
          <p:nvPr>
            <p:ph type="title"/>
          </p:nvPr>
        </p:nvSpPr>
        <p:spPr>
          <a:xfrm>
            <a:off x="3851280" y="4492800"/>
            <a:ext cx="725040" cy="39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Spline Sans Medium"/>
                <a:ea typeface="Spline Sans Medium"/>
              </a:rPr>
              <a:t>xx%</a:t>
            </a:r>
            <a:endParaRPr b="0" lang="fr-FR" sz="1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3" name="Google Shape;63;p13"/>
          <p:cNvCxnSpPr/>
          <p:nvPr/>
        </p:nvCxnSpPr>
        <p:spPr>
          <a:xfrm>
            <a:off x="8915400" y="-107640"/>
            <a:ext cx="360" cy="546264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_1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228600" y="230400"/>
            <a:ext cx="5789160" cy="106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_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228600" y="2571840"/>
            <a:ext cx="578916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741000" y="230400"/>
            <a:ext cx="2174040" cy="351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228600" y="434052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228600" y="2304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20" name="Google Shape;93;p17"/>
          <p:cNvCxnSpPr/>
          <p:nvPr/>
        </p:nvCxnSpPr>
        <p:spPr>
          <a:xfrm>
            <a:off x="8915400" y="-107640"/>
            <a:ext cx="360" cy="546264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1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228600" y="2304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228600" y="2304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2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228600" y="2304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4" name="Google Shape;100;p20"/>
          <p:cNvGrpSpPr/>
          <p:nvPr/>
        </p:nvGrpSpPr>
        <p:grpSpPr>
          <a:xfrm>
            <a:off x="228600" y="-107640"/>
            <a:ext cx="8686800" cy="5462280"/>
            <a:chOff x="228600" y="-107640"/>
            <a:chExt cx="8686800" cy="5462280"/>
          </a:xfrm>
        </p:grpSpPr>
        <p:cxnSp>
          <p:nvCxnSpPr>
            <p:cNvPr id="25" name="Google Shape;101;p20"/>
            <p:cNvCxnSpPr/>
            <p:nvPr/>
          </p:nvCxnSpPr>
          <p:spPr>
            <a:xfrm>
              <a:off x="8915400" y="-107640"/>
              <a:ext cx="360" cy="546264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6" name="Google Shape;102;p20"/>
            <p:cNvCxnSpPr/>
            <p:nvPr/>
          </p:nvCxnSpPr>
          <p:spPr>
            <a:xfrm>
              <a:off x="228600" y="-107640"/>
              <a:ext cx="360" cy="546264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228600" y="3526560"/>
            <a:ext cx="8686440" cy="156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87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87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title"/>
          </p:nvPr>
        </p:nvSpPr>
        <p:spPr>
          <a:xfrm>
            <a:off x="3858840" y="124560"/>
            <a:ext cx="1425960" cy="78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3600" strike="noStrike" u="non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xx%</a:t>
            </a:r>
            <a:endParaRPr b="0" lang="fr-FR" sz="3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228600" y="18720"/>
            <a:ext cx="4843080" cy="279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0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0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" name="Google Shape;106;p21"/>
          <p:cNvSpPr/>
          <p:nvPr/>
        </p:nvSpPr>
        <p:spPr>
          <a:xfrm>
            <a:off x="228600" y="4240080"/>
            <a:ext cx="8686440" cy="35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CREDITS: This presentation template was created by </a:t>
            </a:r>
            <a:r>
              <a:rPr b="1" lang="en" sz="1000" strike="noStrike" u="sng">
                <a:solidFill>
                  <a:schemeClr val="hlink"/>
                </a:solidFill>
                <a:effectLst/>
                <a:uFillTx/>
                <a:latin typeface="Spline Sans"/>
                <a:ea typeface="Spline Sans"/>
                <a:hlinkClick r:id="rId2"/>
              </a:rPr>
              <a:t>Slidesgo</a:t>
            </a: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, and includes icons, infographics &amp; images by </a:t>
            </a:r>
            <a:r>
              <a:rPr b="1" lang="en" sz="1000" strike="noStrike" u="sng">
                <a:solidFill>
                  <a:schemeClr val="hlink"/>
                </a:solidFill>
                <a:effectLst/>
                <a:uFillTx/>
                <a:latin typeface="Spline Sans"/>
                <a:ea typeface="Spline Sans"/>
                <a:hlinkClick r:id="rId3"/>
              </a:rPr>
              <a:t>Freepik</a:t>
            </a:r>
            <a:r>
              <a:rPr b="0" lang="en" sz="1000" strike="noStrike" u="sng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Google Shape;108;p22"/>
          <p:cNvCxnSpPr/>
          <p:nvPr/>
        </p:nvCxnSpPr>
        <p:spPr>
          <a:xfrm>
            <a:off x="228600" y="-107640"/>
            <a:ext cx="360" cy="546264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9_1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110;p23"/>
          <p:cNvGrpSpPr/>
          <p:nvPr/>
        </p:nvGrpSpPr>
        <p:grpSpPr>
          <a:xfrm>
            <a:off x="-91800" y="230400"/>
            <a:ext cx="9327240" cy="4682520"/>
            <a:chOff x="-91800" y="230400"/>
            <a:chExt cx="9327240" cy="4682520"/>
          </a:xfrm>
        </p:grpSpPr>
        <p:cxnSp>
          <p:nvCxnSpPr>
            <p:cNvPr id="34" name="Google Shape;111;p23"/>
            <p:cNvCxnSpPr/>
            <p:nvPr/>
          </p:nvCxnSpPr>
          <p:spPr>
            <a:xfrm>
              <a:off x="-91800" y="4912920"/>
              <a:ext cx="932760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5" name="Google Shape;112;p23"/>
            <p:cNvCxnSpPr/>
            <p:nvPr/>
          </p:nvCxnSpPr>
          <p:spPr>
            <a:xfrm>
              <a:off x="-91800" y="230400"/>
              <a:ext cx="932760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228600" y="1001160"/>
            <a:ext cx="7235280" cy="274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8" name="Google Shape;17;p4"/>
          <p:cNvCxnSpPr/>
          <p:nvPr/>
        </p:nvCxnSpPr>
        <p:spPr>
          <a:xfrm>
            <a:off x="-130320" y="4917600"/>
            <a:ext cx="940500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125880" y="4343400"/>
            <a:ext cx="5789520" cy="57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228600" y="1697040"/>
            <a:ext cx="2174040" cy="321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228600" y="2304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42" name="Google Shape;27;p6"/>
          <p:cNvCxnSpPr/>
          <p:nvPr/>
        </p:nvCxnSpPr>
        <p:spPr>
          <a:xfrm>
            <a:off x="-91800" y="4912920"/>
            <a:ext cx="932760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228600" y="230400"/>
            <a:ext cx="42944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6018120" y="230400"/>
            <a:ext cx="2896920" cy="46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228600" y="2571840"/>
            <a:ext cx="8686440" cy="234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5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228600" y="230400"/>
            <a:ext cx="8686440" cy="196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title"/>
          </p:nvPr>
        </p:nvSpPr>
        <p:spPr>
          <a:xfrm>
            <a:off x="228600" y="3742560"/>
            <a:ext cx="2896920" cy="11703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mple-light-2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1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118;p26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1_1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121;p27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2"/>
    <p:sldLayoutId id="2147483673" r:id="rId3"/>
    <p:sldLayoutId id="2147483674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209520" y="-19080"/>
            <a:ext cx="8724600" cy="234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900" strike="noStrike" u="none">
                <a:solidFill>
                  <a:schemeClr val="dk1"/>
                </a:solidFill>
                <a:effectLst/>
                <a:uFillTx/>
                <a:latin typeface="Spline Sans Light"/>
                <a:ea typeface="Spline Sans"/>
              </a:rPr>
              <a:t>AI</a:t>
            </a:r>
            <a:r>
              <a:rPr b="0" lang="en-US" sz="10900" strike="noStrike" u="none">
                <a:solidFill>
                  <a:schemeClr val="dk1"/>
                </a:solidFill>
                <a:effectLst/>
                <a:uFillTx/>
                <a:latin typeface="Mea Culpa"/>
                <a:ea typeface="Spline Sans"/>
              </a:rPr>
              <a:t> Conferencing</a:t>
            </a:r>
            <a:endParaRPr b="0" lang="fr-FR" sz="109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55" name="Google Shape;129;p28"/>
          <p:cNvCxnSpPr/>
          <p:nvPr/>
        </p:nvCxnSpPr>
        <p:spPr>
          <a:xfrm>
            <a:off x="-91800" y="4327560"/>
            <a:ext cx="93279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56" name="PlaceHolder 2"/>
          <p:cNvSpPr>
            <a:spLocks noGrp="1"/>
          </p:cNvSpPr>
          <p:nvPr>
            <p:ph type="subTitle"/>
          </p:nvPr>
        </p:nvSpPr>
        <p:spPr>
          <a:xfrm>
            <a:off x="1676520" y="4486320"/>
            <a:ext cx="5781240" cy="39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2500" lnSpcReduction="19999"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  <a:ea typeface="Spline Sans"/>
              </a:rPr>
              <a:t>Professional Business Presentation | MERN Stack | WebRTC | AI Augmentation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7" name="Google Shape;131;p28"/>
          <p:cNvSpPr/>
          <p:nvPr/>
        </p:nvSpPr>
        <p:spPr>
          <a:xfrm>
            <a:off x="447840" y="1676520"/>
            <a:ext cx="2190240" cy="39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20xx  ━  website.com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228600" y="3467160"/>
            <a:ext cx="5790960" cy="144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Spline Sans"/>
              </a:rPr>
              <a:t>This presentation outlines a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Spline Sans"/>
              </a:rPr>
              <a:t>peer-to-peer video conferencing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Spline Sans"/>
              </a:rPr>
              <a:t> platform leveraging the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Spline Sans"/>
              </a:rPr>
              <a:t>MERN stack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Spline Sans"/>
              </a:rPr>
              <a:t> and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Spline Sans"/>
              </a:rPr>
              <a:t>WebRTC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Spline Sans"/>
              </a:rPr>
              <a:t>, enhanced with advanced AI features to boost productivity and collaboration.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title"/>
          </p:nvPr>
        </p:nvSpPr>
        <p:spPr>
          <a:xfrm>
            <a:off x="228600" y="2571840"/>
            <a:ext cx="579096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Introduction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60" name="Google Shape;201;p31" descr=""/>
          <p:cNvPicPr/>
          <p:nvPr/>
        </p:nvPicPr>
        <p:blipFill>
          <a:blip r:embed="rId1"/>
          <a:srcRect l="6910" t="290" r="221" b="-290"/>
          <a:stretch/>
        </p:blipFill>
        <p:spPr>
          <a:xfrm>
            <a:off x="6741000" y="230400"/>
            <a:ext cx="2174040" cy="35118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61" name="Google Shape;202;p31"/>
          <p:cNvCxnSpPr/>
          <p:nvPr/>
        </p:nvCxnSpPr>
        <p:spPr>
          <a:xfrm>
            <a:off x="6500160" y="-199440"/>
            <a:ext cx="360" cy="546264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3857760" y="123840"/>
            <a:ext cx="1428480" cy="7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Calibri"/>
                <a:ea typeface="Spline Sans"/>
              </a:rPr>
              <a:t>01</a:t>
            </a:r>
            <a:endParaRPr b="0" lang="fr-FR" sz="3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title"/>
          </p:nvPr>
        </p:nvSpPr>
        <p:spPr>
          <a:xfrm>
            <a:off x="228600" y="3524400"/>
            <a:ext cx="8686440" cy="156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700" strike="noStrike" u="none">
                <a:solidFill>
                  <a:schemeClr val="dk1"/>
                </a:solidFill>
                <a:effectLst/>
                <a:uFillTx/>
                <a:latin typeface="Spline Sans Light"/>
                <a:ea typeface="Spline Sans"/>
              </a:rPr>
              <a:t>Platform</a:t>
            </a:r>
            <a:r>
              <a:rPr b="0" lang="en-US" sz="8700" strike="noStrike" u="none">
                <a:solidFill>
                  <a:schemeClr val="dk1"/>
                </a:solidFill>
                <a:effectLst/>
                <a:uFillTx/>
                <a:latin typeface="Mea Culpa"/>
                <a:ea typeface="Spline Sans"/>
              </a:rPr>
              <a:t> Features</a:t>
            </a:r>
            <a:endParaRPr b="0" lang="fr-FR" sz="87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64" name="Google Shape;209;p32"/>
          <p:cNvCxnSpPr/>
          <p:nvPr/>
        </p:nvCxnSpPr>
        <p:spPr>
          <a:xfrm>
            <a:off x="-91800" y="1101960"/>
            <a:ext cx="93279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5790960" cy="1066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Secure peer-to-peer video and audio</a:t>
            </a: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Mea Culpa"/>
                <a:ea typeface="Spline Sans"/>
              </a:rPr>
              <a:t> conferencing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ubTitle"/>
          </p:nvPr>
        </p:nvSpPr>
        <p:spPr>
          <a:xfrm>
            <a:off x="1676520" y="3600360"/>
            <a:ext cx="7229160" cy="131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Spline Sans"/>
              </a:rPr>
              <a:t>The platform provides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Spline Sans"/>
              </a:rPr>
              <a:t>end-to-end encrypted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Spline Sans"/>
              </a:rPr>
              <a:t> video, audio, and data streaming using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Spline Sans"/>
              </a:rPr>
              <a:t>WebRTC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Spline Sans"/>
              </a:rPr>
              <a:t>, ensuring privacy and real-time communications.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67" name="Google Shape;216;p33"/>
          <p:cNvCxnSpPr/>
          <p:nvPr/>
        </p:nvCxnSpPr>
        <p:spPr>
          <a:xfrm>
            <a:off x="-91800" y="3153240"/>
            <a:ext cx="93279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subTitle"/>
          </p:nvPr>
        </p:nvSpPr>
        <p:spPr>
          <a:xfrm>
            <a:off x="228600" y="3467160"/>
            <a:ext cx="5790960" cy="144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Spline Sans"/>
              </a:rPr>
              <a:t>Users can engage with a synchronized whiteboard and integrated group or private chat for dynamic interaction during meetings.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title"/>
          </p:nvPr>
        </p:nvSpPr>
        <p:spPr>
          <a:xfrm>
            <a:off x="228600" y="2571840"/>
            <a:ext cx="579096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775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Real-time collaboration tools: whiteboard and</a:t>
            </a: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Mea Culpa"/>
                <a:ea typeface="Spline Sans"/>
              </a:rPr>
              <a:t> chat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70" name="Google Shape;201;p31" descr=""/>
          <p:cNvPicPr/>
          <p:nvPr/>
        </p:nvPicPr>
        <p:blipFill>
          <a:blip r:embed="rId1"/>
          <a:srcRect l="6910" t="290" r="221" b="-290"/>
          <a:stretch/>
        </p:blipFill>
        <p:spPr>
          <a:xfrm>
            <a:off x="6741000" y="230400"/>
            <a:ext cx="2174040" cy="35118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71" name="Google Shape;202;p31"/>
          <p:cNvCxnSpPr/>
          <p:nvPr/>
        </p:nvCxnSpPr>
        <p:spPr>
          <a:xfrm>
            <a:off x="6500160" y="-199440"/>
            <a:ext cx="360" cy="546264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5790960" cy="1066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AI-powered transcription, translation, and</a:t>
            </a: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Mea Culpa"/>
                <a:ea typeface="Spline Sans"/>
              </a:rPr>
              <a:t> summaries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ubTitle"/>
          </p:nvPr>
        </p:nvSpPr>
        <p:spPr>
          <a:xfrm>
            <a:off x="1676520" y="3600360"/>
            <a:ext cx="7229160" cy="131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Spline Sans"/>
              </a:rPr>
              <a:t>The platform integrates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Spline Sans"/>
              </a:rPr>
              <a:t>AI-powered live transcription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Spline Sans"/>
              </a:rPr>
              <a:t>, multilingual translation, and automated meeting summaries using advanced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Spline Sans"/>
              </a:rPr>
              <a:t>NLP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Spline Sans"/>
              </a:rPr>
              <a:t> and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Spline Sans"/>
              </a:rPr>
              <a:t>LLMs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Spline Sans"/>
              </a:rPr>
              <a:t> to enhance accessibility and productivity.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74" name="Google Shape;216;p33"/>
          <p:cNvCxnSpPr/>
          <p:nvPr/>
        </p:nvCxnSpPr>
        <p:spPr>
          <a:xfrm>
            <a:off x="-91800" y="3153240"/>
            <a:ext cx="93279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857760" y="123840"/>
            <a:ext cx="1428480" cy="7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Calibri"/>
                <a:ea typeface="Spline Sans"/>
              </a:rPr>
              <a:t>02</a:t>
            </a:r>
            <a:endParaRPr b="0" lang="fr-FR" sz="3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title"/>
          </p:nvPr>
        </p:nvSpPr>
        <p:spPr>
          <a:xfrm>
            <a:off x="228600" y="3524400"/>
            <a:ext cx="8686440" cy="156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62500" lnSpcReduction="1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700" strike="noStrike" u="none">
                <a:solidFill>
                  <a:schemeClr val="dk1"/>
                </a:solidFill>
                <a:effectLst/>
                <a:uFillTx/>
                <a:latin typeface="Spline Sans Light"/>
                <a:ea typeface="Spline Sans"/>
              </a:rPr>
              <a:t>Architecture &amp;</a:t>
            </a:r>
            <a:r>
              <a:rPr b="0" lang="en-US" sz="8700" strike="noStrike" u="none">
                <a:solidFill>
                  <a:schemeClr val="dk1"/>
                </a:solidFill>
                <a:effectLst/>
                <a:uFillTx/>
                <a:latin typeface="Mea Culpa"/>
                <a:ea typeface="Spline Sans"/>
              </a:rPr>
              <a:t> Implementation</a:t>
            </a:r>
            <a:endParaRPr b="0" lang="fr-FR" sz="87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7" name="Google Shape;209;p32"/>
          <p:cNvCxnSpPr/>
          <p:nvPr/>
        </p:nvCxnSpPr>
        <p:spPr>
          <a:xfrm>
            <a:off x="-91800" y="1101960"/>
            <a:ext cx="93279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5790960" cy="1066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MERN stack and WebRTC</a:t>
            </a: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Mea Culpa"/>
                <a:ea typeface="Spline Sans"/>
              </a:rPr>
              <a:t> integration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1676520" y="3600360"/>
            <a:ext cx="7229160" cy="131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Spline Sans"/>
              </a:rPr>
              <a:t>Built on the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Spline Sans"/>
              </a:rPr>
              <a:t>MERN stack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Spline Sans"/>
              </a:rPr>
              <a:t> (MongoDB, Express.js, React.js, Node.js) combined with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Spline Sans"/>
              </a:rPr>
              <a:t>WebRTC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Spline Sans"/>
              </a:rPr>
              <a:t>, the platform supports secure real-time media and data exchange.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80" name="Google Shape;216;p33"/>
          <p:cNvCxnSpPr/>
          <p:nvPr/>
        </p:nvCxnSpPr>
        <p:spPr>
          <a:xfrm>
            <a:off x="-91800" y="3153240"/>
            <a:ext cx="93279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5790960" cy="1066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Scalable, low-latency, and secure backend</a:t>
            </a: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Mea Culpa"/>
                <a:ea typeface="Spline Sans"/>
              </a:rPr>
              <a:t> design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ubTitle"/>
          </p:nvPr>
        </p:nvSpPr>
        <p:spPr>
          <a:xfrm>
            <a:off x="1676520" y="3600360"/>
            <a:ext cx="7229160" cy="131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Spline Sans"/>
              </a:rPr>
              <a:t>The backend is designed for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Spline Sans"/>
              </a:rPr>
              <a:t>scalability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Spline Sans"/>
              </a:rPr>
              <a:t> and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Spline Sans"/>
              </a:rPr>
              <a:t>low latency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Spline Sans"/>
              </a:rPr>
              <a:t>, incorporating end-to-end encryption, JWT/OAuth authentication, and robust auto-reconnect features for reliability.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83" name="Google Shape;216;p33"/>
          <p:cNvCxnSpPr/>
          <p:nvPr/>
        </p:nvCxnSpPr>
        <p:spPr>
          <a:xfrm>
            <a:off x="-91800" y="3153240"/>
            <a:ext cx="93279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subTitle"/>
          </p:nvPr>
        </p:nvSpPr>
        <p:spPr>
          <a:xfrm>
            <a:off x="228600" y="3467160"/>
            <a:ext cx="5790960" cy="144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Spline Sans"/>
              </a:rPr>
              <a:t>AI functions leverage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Spline Sans"/>
              </a:rPr>
              <a:t>Whisper AI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Spline Sans"/>
              </a:rPr>
              <a:t> for speech-to-text and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Spline Sans"/>
              </a:rPr>
              <a:t>GPT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Spline Sans"/>
              </a:rPr>
              <a:t> for summarization, deployed on cloud platforms like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Spline Sans"/>
              </a:rPr>
              <a:t>AWS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Spline Sans"/>
              </a:rPr>
              <a:t> and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Spline Sans"/>
              </a:rPr>
              <a:t>MongoDB Atlas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Spline Sans"/>
              </a:rPr>
              <a:t> for seamless scalability.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title"/>
          </p:nvPr>
        </p:nvSpPr>
        <p:spPr>
          <a:xfrm>
            <a:off x="228600" y="2571840"/>
            <a:ext cx="579096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775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AI services integration and deployment</a:t>
            </a: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Mea Culpa"/>
                <a:ea typeface="Spline Sans"/>
              </a:rPr>
              <a:t> strategy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86" name="Google Shape;201;p31" descr=""/>
          <p:cNvPicPr/>
          <p:nvPr/>
        </p:nvPicPr>
        <p:blipFill>
          <a:blip r:embed="rId1"/>
          <a:srcRect l="6910" t="290" r="221" b="-290"/>
          <a:stretch/>
        </p:blipFill>
        <p:spPr>
          <a:xfrm>
            <a:off x="6741000" y="230400"/>
            <a:ext cx="2174040" cy="35118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87" name="Google Shape;202;p31"/>
          <p:cNvCxnSpPr/>
          <p:nvPr/>
        </p:nvCxnSpPr>
        <p:spPr>
          <a:xfrm>
            <a:off x="6500160" y="-199440"/>
            <a:ext cx="360" cy="546264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5790960" cy="1066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Conclusions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1676520" y="3600360"/>
            <a:ext cx="7229160" cy="131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Spline Sans"/>
              </a:rPr>
              <a:t>This platform offers a secure, scalable, and AI-enhanced conferencing solution, improving collaboration, communication, and productivity across diverse professional settings.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90" name="Google Shape;216;p33"/>
          <p:cNvCxnSpPr/>
          <p:nvPr/>
        </p:nvCxnSpPr>
        <p:spPr>
          <a:xfrm>
            <a:off x="-91800" y="3153240"/>
            <a:ext cx="93279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228600" y="19080"/>
            <a:ext cx="4847760" cy="323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0" strike="noStrike" u="non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THANK</a:t>
            </a:r>
            <a:r>
              <a:rPr b="0" lang="en" sz="10000" strike="noStrike" u="non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b="0" lang="en" sz="10000" strike="noStrike" u="non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Y</a:t>
            </a:r>
            <a:r>
              <a:rPr b="0" lang="en" sz="10000" strike="noStrike" u="non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OU</a:t>
            </a:r>
            <a:endParaRPr b="0" lang="fr-FR" sz="10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ubTitle"/>
          </p:nvPr>
        </p:nvSpPr>
        <p:spPr>
          <a:xfrm>
            <a:off x="6019920" y="1924200"/>
            <a:ext cx="2895120" cy="105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trike="noStrike" u="non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Do you have any questions?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youremail@freepik.com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+00 000 000 000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yourwebsite.com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3" name="Google Shape;320;p41"/>
          <p:cNvSpPr/>
          <p:nvPr/>
        </p:nvSpPr>
        <p:spPr>
          <a:xfrm>
            <a:off x="2495520" y="4619520"/>
            <a:ext cx="415260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Please keep this slide for attribution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94" name="Google Shape;321;p41"/>
          <p:cNvGrpSpPr/>
          <p:nvPr/>
        </p:nvGrpSpPr>
        <p:grpSpPr>
          <a:xfrm>
            <a:off x="7464240" y="412920"/>
            <a:ext cx="266400" cy="266400"/>
            <a:chOff x="7464240" y="412920"/>
            <a:chExt cx="266400" cy="266400"/>
          </a:xfrm>
        </p:grpSpPr>
        <p:sp>
          <p:nvSpPr>
            <p:cNvPr id="95" name="Google Shape;322;p41"/>
            <p:cNvSpPr/>
            <p:nvPr/>
          </p:nvSpPr>
          <p:spPr>
            <a:xfrm>
              <a:off x="7542720" y="491400"/>
              <a:ext cx="109080" cy="109080"/>
            </a:xfrm>
            <a:custGeom>
              <a:avLst/>
              <a:gdLst>
                <a:gd name="textAreaLeft" fmla="*/ 0 w 109080"/>
                <a:gd name="textAreaRight" fmla="*/ 109440 w 109080"/>
                <a:gd name="textAreaTop" fmla="*/ 0 h 109080"/>
                <a:gd name="textAreaBottom" fmla="*/ 109440 h 109080"/>
              </a:gdLst>
              <a:ahLst/>
              <a:cxnLst/>
              <a:rect l="textAreaLeft" t="textAreaTop" r="textAreaRight" b="textAreaBottom"/>
              <a:pathLst>
                <a:path w="8197" h="8197">
                  <a:moveTo>
                    <a:pt x="4099" y="1171"/>
                  </a:moveTo>
                  <a:cubicBezTo>
                    <a:pt x="5712" y="1171"/>
                    <a:pt x="7027" y="2484"/>
                    <a:pt x="7027" y="4097"/>
                  </a:cubicBezTo>
                  <a:cubicBezTo>
                    <a:pt x="7027" y="5712"/>
                    <a:pt x="5712" y="7025"/>
                    <a:pt x="4099" y="7025"/>
                  </a:cubicBezTo>
                  <a:cubicBezTo>
                    <a:pt x="2486" y="7025"/>
                    <a:pt x="1171" y="5712"/>
                    <a:pt x="1171" y="4097"/>
                  </a:cubicBezTo>
                  <a:cubicBezTo>
                    <a:pt x="1171" y="2484"/>
                    <a:pt x="2486" y="1171"/>
                    <a:pt x="4099" y="1171"/>
                  </a:cubicBezTo>
                  <a:close/>
                  <a:moveTo>
                    <a:pt x="4099" y="0"/>
                  </a:moveTo>
                  <a:cubicBezTo>
                    <a:pt x="1840" y="0"/>
                    <a:pt x="0" y="1838"/>
                    <a:pt x="0" y="4097"/>
                  </a:cubicBezTo>
                  <a:cubicBezTo>
                    <a:pt x="0" y="6358"/>
                    <a:pt x="1840" y="8196"/>
                    <a:pt x="4099" y="8196"/>
                  </a:cubicBezTo>
                  <a:cubicBezTo>
                    <a:pt x="6358" y="8196"/>
                    <a:pt x="8196" y="6358"/>
                    <a:pt x="8196" y="4097"/>
                  </a:cubicBezTo>
                  <a:cubicBezTo>
                    <a:pt x="8196" y="1838"/>
                    <a:pt x="6358" y="0"/>
                    <a:pt x="409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4720" bIns="54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" name="Google Shape;323;p41"/>
            <p:cNvSpPr/>
            <p:nvPr/>
          </p:nvSpPr>
          <p:spPr>
            <a:xfrm>
              <a:off x="7495560" y="444240"/>
              <a:ext cx="203760" cy="203760"/>
            </a:xfrm>
            <a:custGeom>
              <a:avLst/>
              <a:gdLst>
                <a:gd name="textAreaLeft" fmla="*/ 0 w 203760"/>
                <a:gd name="textAreaRight" fmla="*/ 204120 w 203760"/>
                <a:gd name="textAreaTop" fmla="*/ 0 h 203760"/>
                <a:gd name="textAreaBottom" fmla="*/ 204120 h 203760"/>
              </a:gdLst>
              <a:ahLst/>
              <a:cxnLst/>
              <a:rect l="textAreaLeft" t="textAreaTop" r="textAreaRight" b="textAreaBottom"/>
              <a:pathLst>
                <a:path w="15300" h="15299">
                  <a:moveTo>
                    <a:pt x="12333" y="1171"/>
                  </a:moveTo>
                  <a:cubicBezTo>
                    <a:pt x="13306" y="1171"/>
                    <a:pt x="14128" y="1994"/>
                    <a:pt x="14128" y="2967"/>
                  </a:cubicBezTo>
                  <a:lnTo>
                    <a:pt x="14128" y="12334"/>
                  </a:lnTo>
                  <a:cubicBezTo>
                    <a:pt x="14128" y="13307"/>
                    <a:pt x="13306" y="14129"/>
                    <a:pt x="12333" y="14129"/>
                  </a:cubicBezTo>
                  <a:lnTo>
                    <a:pt x="2968" y="14129"/>
                  </a:lnTo>
                  <a:cubicBezTo>
                    <a:pt x="1993" y="14129"/>
                    <a:pt x="1172" y="13307"/>
                    <a:pt x="1172" y="12334"/>
                  </a:cubicBezTo>
                  <a:lnTo>
                    <a:pt x="1172" y="2967"/>
                  </a:lnTo>
                  <a:cubicBezTo>
                    <a:pt x="1172" y="1994"/>
                    <a:pt x="1993" y="1171"/>
                    <a:pt x="2968" y="1171"/>
                  </a:cubicBezTo>
                  <a:close/>
                  <a:moveTo>
                    <a:pt x="2968" y="0"/>
                  </a:moveTo>
                  <a:cubicBezTo>
                    <a:pt x="1351" y="0"/>
                    <a:pt x="1" y="1346"/>
                    <a:pt x="1" y="2967"/>
                  </a:cubicBezTo>
                  <a:lnTo>
                    <a:pt x="1" y="12334"/>
                  </a:lnTo>
                  <a:cubicBezTo>
                    <a:pt x="1" y="13952"/>
                    <a:pt x="1349" y="15299"/>
                    <a:pt x="2968" y="15299"/>
                  </a:cubicBezTo>
                  <a:lnTo>
                    <a:pt x="12333" y="15299"/>
                  </a:lnTo>
                  <a:cubicBezTo>
                    <a:pt x="13953" y="15299"/>
                    <a:pt x="15299" y="13951"/>
                    <a:pt x="15299" y="12334"/>
                  </a:cubicBezTo>
                  <a:lnTo>
                    <a:pt x="15299" y="2967"/>
                  </a:lnTo>
                  <a:cubicBezTo>
                    <a:pt x="15299" y="1345"/>
                    <a:pt x="13948" y="0"/>
                    <a:pt x="1233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" name="Google Shape;324;p41"/>
            <p:cNvSpPr/>
            <p:nvPr/>
          </p:nvSpPr>
          <p:spPr>
            <a:xfrm>
              <a:off x="7464240" y="412920"/>
              <a:ext cx="266400" cy="266400"/>
            </a:xfrm>
            <a:custGeom>
              <a:avLst/>
              <a:gdLst>
                <a:gd name="textAreaLeft" fmla="*/ 0 w 266400"/>
                <a:gd name="textAreaRight" fmla="*/ 266760 w 266400"/>
                <a:gd name="textAreaTop" fmla="*/ 0 h 266400"/>
                <a:gd name="textAreaBottom" fmla="*/ 266760 h 266400"/>
              </a:gdLst>
              <a:ahLst/>
              <a:cxnLst/>
              <a:rect l="textAreaLeft" t="textAreaTop" r="textAreaRight" b="textAreaBottom"/>
              <a:pathLst>
                <a:path w="19984" h="19982">
                  <a:moveTo>
                    <a:pt x="17056" y="1172"/>
                  </a:moveTo>
                  <a:cubicBezTo>
                    <a:pt x="18025" y="1172"/>
                    <a:pt x="18812" y="1959"/>
                    <a:pt x="18812" y="2927"/>
                  </a:cubicBezTo>
                  <a:lnTo>
                    <a:pt x="18812" y="17056"/>
                  </a:lnTo>
                  <a:cubicBezTo>
                    <a:pt x="18812" y="18023"/>
                    <a:pt x="18025" y="18811"/>
                    <a:pt x="17056" y="18811"/>
                  </a:cubicBezTo>
                  <a:lnTo>
                    <a:pt x="2928" y="18811"/>
                  </a:lnTo>
                  <a:cubicBezTo>
                    <a:pt x="1961" y="18811"/>
                    <a:pt x="1172" y="18023"/>
                    <a:pt x="1172" y="17056"/>
                  </a:cubicBezTo>
                  <a:lnTo>
                    <a:pt x="1172" y="2927"/>
                  </a:lnTo>
                  <a:cubicBezTo>
                    <a:pt x="1172" y="1959"/>
                    <a:pt x="1961" y="1172"/>
                    <a:pt x="2928" y="1172"/>
                  </a:cubicBezTo>
                  <a:close/>
                  <a:moveTo>
                    <a:pt x="2928" y="1"/>
                  </a:moveTo>
                  <a:cubicBezTo>
                    <a:pt x="1313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3" y="19982"/>
                    <a:pt x="2928" y="19982"/>
                  </a:cubicBezTo>
                  <a:lnTo>
                    <a:pt x="17056" y="19982"/>
                  </a:lnTo>
                  <a:cubicBezTo>
                    <a:pt x="18669" y="19982"/>
                    <a:pt x="19984" y="18669"/>
                    <a:pt x="19984" y="17056"/>
                  </a:cubicBezTo>
                  <a:lnTo>
                    <a:pt x="19984" y="2927"/>
                  </a:lnTo>
                  <a:cubicBezTo>
                    <a:pt x="19984" y="1313"/>
                    <a:pt x="18669" y="1"/>
                    <a:pt x="1705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" name="Google Shape;325;p41"/>
            <p:cNvSpPr/>
            <p:nvPr/>
          </p:nvSpPr>
          <p:spPr>
            <a:xfrm>
              <a:off x="7636680" y="475920"/>
              <a:ext cx="30960" cy="30960"/>
            </a:xfrm>
            <a:custGeom>
              <a:avLst/>
              <a:gdLst>
                <a:gd name="textAreaLeft" fmla="*/ 0 w 30960"/>
                <a:gd name="textAreaRight" fmla="*/ 31320 w 30960"/>
                <a:gd name="textAreaTop" fmla="*/ 0 h 30960"/>
                <a:gd name="textAreaBottom" fmla="*/ 31320 h 30960"/>
              </a:gdLst>
              <a:ahLst/>
              <a:cxnLst/>
              <a:rect l="textAreaLeft" t="textAreaTop" r="textAreaRight" b="textAreaBottom"/>
              <a:pathLst>
                <a:path w="2342" h="2343">
                  <a:moveTo>
                    <a:pt x="1170" y="0"/>
                  </a:moveTo>
                  <a:cubicBezTo>
                    <a:pt x="524" y="0"/>
                    <a:pt x="1" y="526"/>
                    <a:pt x="1" y="1171"/>
                  </a:cubicBezTo>
                  <a:cubicBezTo>
                    <a:pt x="1" y="1817"/>
                    <a:pt x="524" y="2342"/>
                    <a:pt x="1170" y="2342"/>
                  </a:cubicBezTo>
                  <a:cubicBezTo>
                    <a:pt x="1816" y="2342"/>
                    <a:pt x="2341" y="1817"/>
                    <a:pt x="2341" y="1171"/>
                  </a:cubicBezTo>
                  <a:cubicBezTo>
                    <a:pt x="2341" y="526"/>
                    <a:pt x="1816" y="0"/>
                    <a:pt x="117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480" bIns="15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9" name="Google Shape;326;p41"/>
          <p:cNvGrpSpPr/>
          <p:nvPr/>
        </p:nvGrpSpPr>
        <p:grpSpPr>
          <a:xfrm>
            <a:off x="7994880" y="412920"/>
            <a:ext cx="266400" cy="266400"/>
            <a:chOff x="7994880" y="412920"/>
            <a:chExt cx="266400" cy="266400"/>
          </a:xfrm>
        </p:grpSpPr>
        <p:sp>
          <p:nvSpPr>
            <p:cNvPr id="100" name="Google Shape;327;p41"/>
            <p:cNvSpPr/>
            <p:nvPr/>
          </p:nvSpPr>
          <p:spPr>
            <a:xfrm>
              <a:off x="8034480" y="507240"/>
              <a:ext cx="46440" cy="140400"/>
            </a:xfrm>
            <a:custGeom>
              <a:avLst/>
              <a:gdLst>
                <a:gd name="textAreaLeft" fmla="*/ 0 w 46440"/>
                <a:gd name="textAreaRight" fmla="*/ 46800 w 4644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3514" h="10537">
                  <a:moveTo>
                    <a:pt x="2342" y="1171"/>
                  </a:moveTo>
                  <a:lnTo>
                    <a:pt x="2342" y="9367"/>
                  </a:lnTo>
                  <a:lnTo>
                    <a:pt x="1171" y="9367"/>
                  </a:lnTo>
                  <a:lnTo>
                    <a:pt x="1171" y="1171"/>
                  </a:lnTo>
                  <a:close/>
                  <a:moveTo>
                    <a:pt x="586" y="0"/>
                  </a:moveTo>
                  <a:cubicBezTo>
                    <a:pt x="264" y="0"/>
                    <a:pt x="0" y="262"/>
                    <a:pt x="0" y="586"/>
                  </a:cubicBezTo>
                  <a:lnTo>
                    <a:pt x="0" y="9951"/>
                  </a:lnTo>
                  <a:cubicBezTo>
                    <a:pt x="0" y="10275"/>
                    <a:pt x="264" y="10537"/>
                    <a:pt x="586" y="10537"/>
                  </a:cubicBezTo>
                  <a:lnTo>
                    <a:pt x="2928" y="10537"/>
                  </a:lnTo>
                  <a:cubicBezTo>
                    <a:pt x="3252" y="10537"/>
                    <a:pt x="3514" y="10275"/>
                    <a:pt x="3514" y="9951"/>
                  </a:cubicBezTo>
                  <a:lnTo>
                    <a:pt x="3514" y="586"/>
                  </a:lnTo>
                  <a:cubicBezTo>
                    <a:pt x="3514" y="262"/>
                    <a:pt x="3252" y="0"/>
                    <a:pt x="292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200" bIns="70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" name="Google Shape;328;p41"/>
            <p:cNvSpPr/>
            <p:nvPr/>
          </p:nvSpPr>
          <p:spPr>
            <a:xfrm>
              <a:off x="8034480" y="444600"/>
              <a:ext cx="46440" cy="46440"/>
            </a:xfrm>
            <a:custGeom>
              <a:avLst/>
              <a:gdLst>
                <a:gd name="textAreaLeft" fmla="*/ 0 w 46440"/>
                <a:gd name="textAreaRight" fmla="*/ 46800 w 46440"/>
                <a:gd name="textAreaTop" fmla="*/ 0 h 46440"/>
                <a:gd name="textAreaBottom" fmla="*/ 46800 h 46440"/>
              </a:gdLst>
              <a:ahLst/>
              <a:cxnLst/>
              <a:rect l="textAreaLeft" t="textAreaTop" r="textAreaRight" b="textAreaBottom"/>
              <a:pathLst>
                <a:path w="3514" h="3514">
                  <a:moveTo>
                    <a:pt x="1757" y="1171"/>
                  </a:moveTo>
                  <a:cubicBezTo>
                    <a:pt x="2081" y="1171"/>
                    <a:pt x="2342" y="1435"/>
                    <a:pt x="2342" y="1757"/>
                  </a:cubicBezTo>
                  <a:cubicBezTo>
                    <a:pt x="2342" y="2080"/>
                    <a:pt x="2081" y="2342"/>
                    <a:pt x="1757" y="2342"/>
                  </a:cubicBezTo>
                  <a:cubicBezTo>
                    <a:pt x="1435" y="2342"/>
                    <a:pt x="1171" y="2080"/>
                    <a:pt x="1171" y="1757"/>
                  </a:cubicBezTo>
                  <a:cubicBezTo>
                    <a:pt x="1171" y="1435"/>
                    <a:pt x="1435" y="1171"/>
                    <a:pt x="1757" y="1171"/>
                  </a:cubicBezTo>
                  <a:close/>
                  <a:moveTo>
                    <a:pt x="1757" y="0"/>
                  </a:moveTo>
                  <a:cubicBezTo>
                    <a:pt x="789" y="0"/>
                    <a:pt x="0" y="789"/>
                    <a:pt x="0" y="1757"/>
                  </a:cubicBezTo>
                  <a:cubicBezTo>
                    <a:pt x="0" y="2726"/>
                    <a:pt x="789" y="3513"/>
                    <a:pt x="1757" y="3513"/>
                  </a:cubicBezTo>
                  <a:cubicBezTo>
                    <a:pt x="2726" y="3513"/>
                    <a:pt x="3514" y="2726"/>
                    <a:pt x="3514" y="1757"/>
                  </a:cubicBezTo>
                  <a:cubicBezTo>
                    <a:pt x="3514" y="789"/>
                    <a:pt x="2726" y="0"/>
                    <a:pt x="175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400" bIns="23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" name="Google Shape;329;p41"/>
            <p:cNvSpPr/>
            <p:nvPr/>
          </p:nvSpPr>
          <p:spPr>
            <a:xfrm>
              <a:off x="8097120" y="506880"/>
              <a:ext cx="124560" cy="140400"/>
            </a:xfrm>
            <a:custGeom>
              <a:avLst/>
              <a:gdLst>
                <a:gd name="textAreaLeft" fmla="*/ 0 w 124560"/>
                <a:gd name="textAreaRight" fmla="*/ 124920 w 1245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9368" h="10556">
                  <a:moveTo>
                    <a:pt x="5559" y="1173"/>
                  </a:moveTo>
                  <a:cubicBezTo>
                    <a:pt x="5720" y="1173"/>
                    <a:pt x="5883" y="1186"/>
                    <a:pt x="6044" y="1212"/>
                  </a:cubicBezTo>
                  <a:cubicBezTo>
                    <a:pt x="7422" y="1435"/>
                    <a:pt x="8196" y="2535"/>
                    <a:pt x="8196" y="3669"/>
                  </a:cubicBezTo>
                  <a:lnTo>
                    <a:pt x="8196" y="9386"/>
                  </a:lnTo>
                  <a:lnTo>
                    <a:pt x="7025" y="9386"/>
                  </a:lnTo>
                  <a:lnTo>
                    <a:pt x="7025" y="4702"/>
                  </a:lnTo>
                  <a:cubicBezTo>
                    <a:pt x="7025" y="3411"/>
                    <a:pt x="5975" y="2360"/>
                    <a:pt x="4683" y="2360"/>
                  </a:cubicBezTo>
                  <a:cubicBezTo>
                    <a:pt x="3392" y="2360"/>
                    <a:pt x="2341" y="3411"/>
                    <a:pt x="2341" y="4702"/>
                  </a:cubicBezTo>
                  <a:lnTo>
                    <a:pt x="2341" y="9386"/>
                  </a:lnTo>
                  <a:lnTo>
                    <a:pt x="1170" y="9386"/>
                  </a:lnTo>
                  <a:lnTo>
                    <a:pt x="1170" y="1190"/>
                  </a:lnTo>
                  <a:lnTo>
                    <a:pt x="2341" y="1190"/>
                  </a:lnTo>
                  <a:lnTo>
                    <a:pt x="2341" y="1776"/>
                  </a:lnTo>
                  <a:cubicBezTo>
                    <a:pt x="2341" y="2011"/>
                    <a:pt x="2484" y="2225"/>
                    <a:pt x="2704" y="2316"/>
                  </a:cubicBezTo>
                  <a:cubicBezTo>
                    <a:pt x="2776" y="2346"/>
                    <a:pt x="2852" y="2361"/>
                    <a:pt x="2928" y="2361"/>
                  </a:cubicBezTo>
                  <a:cubicBezTo>
                    <a:pt x="3080" y="2361"/>
                    <a:pt x="3229" y="2301"/>
                    <a:pt x="3341" y="2190"/>
                  </a:cubicBezTo>
                  <a:lnTo>
                    <a:pt x="3615" y="1916"/>
                  </a:lnTo>
                  <a:cubicBezTo>
                    <a:pt x="4086" y="1443"/>
                    <a:pt x="4813" y="1173"/>
                    <a:pt x="5559" y="1173"/>
                  </a:cubicBezTo>
                  <a:close/>
                  <a:moveTo>
                    <a:pt x="5553" y="0"/>
                  </a:moveTo>
                  <a:cubicBezTo>
                    <a:pt x="4823" y="0"/>
                    <a:pt x="4110" y="189"/>
                    <a:pt x="3509" y="536"/>
                  </a:cubicBezTo>
                  <a:cubicBezTo>
                    <a:pt x="3475" y="246"/>
                    <a:pt x="3227" y="19"/>
                    <a:pt x="2927" y="19"/>
                  </a:cubicBezTo>
                  <a:lnTo>
                    <a:pt x="586" y="19"/>
                  </a:lnTo>
                  <a:cubicBezTo>
                    <a:pt x="262" y="19"/>
                    <a:pt x="1" y="281"/>
                    <a:pt x="1" y="605"/>
                  </a:cubicBezTo>
                  <a:lnTo>
                    <a:pt x="1" y="9970"/>
                  </a:lnTo>
                  <a:cubicBezTo>
                    <a:pt x="1" y="10294"/>
                    <a:pt x="262" y="10556"/>
                    <a:pt x="586" y="10556"/>
                  </a:cubicBezTo>
                  <a:lnTo>
                    <a:pt x="2927" y="10556"/>
                  </a:lnTo>
                  <a:cubicBezTo>
                    <a:pt x="3250" y="10556"/>
                    <a:pt x="3512" y="10294"/>
                    <a:pt x="3512" y="9970"/>
                  </a:cubicBezTo>
                  <a:lnTo>
                    <a:pt x="3512" y="4702"/>
                  </a:lnTo>
                  <a:cubicBezTo>
                    <a:pt x="3512" y="4056"/>
                    <a:pt x="4038" y="3531"/>
                    <a:pt x="4683" y="3531"/>
                  </a:cubicBezTo>
                  <a:cubicBezTo>
                    <a:pt x="5329" y="3531"/>
                    <a:pt x="5854" y="4056"/>
                    <a:pt x="5854" y="4702"/>
                  </a:cubicBezTo>
                  <a:lnTo>
                    <a:pt x="5854" y="9970"/>
                  </a:lnTo>
                  <a:cubicBezTo>
                    <a:pt x="5854" y="10294"/>
                    <a:pt x="6116" y="10556"/>
                    <a:pt x="6440" y="10556"/>
                  </a:cubicBezTo>
                  <a:lnTo>
                    <a:pt x="8782" y="10556"/>
                  </a:lnTo>
                  <a:cubicBezTo>
                    <a:pt x="9104" y="10556"/>
                    <a:pt x="9368" y="10294"/>
                    <a:pt x="9368" y="9970"/>
                  </a:cubicBezTo>
                  <a:lnTo>
                    <a:pt x="9368" y="3669"/>
                  </a:lnTo>
                  <a:cubicBezTo>
                    <a:pt x="9368" y="1921"/>
                    <a:pt x="8131" y="364"/>
                    <a:pt x="6231" y="55"/>
                  </a:cubicBezTo>
                  <a:cubicBezTo>
                    <a:pt x="6005" y="18"/>
                    <a:pt x="5779" y="0"/>
                    <a:pt x="555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200" bIns="70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" name="Google Shape;330;p41"/>
            <p:cNvSpPr/>
            <p:nvPr/>
          </p:nvSpPr>
          <p:spPr>
            <a:xfrm>
              <a:off x="7994880" y="412920"/>
              <a:ext cx="266400" cy="266400"/>
            </a:xfrm>
            <a:custGeom>
              <a:avLst/>
              <a:gdLst>
                <a:gd name="textAreaLeft" fmla="*/ 0 w 266400"/>
                <a:gd name="textAreaRight" fmla="*/ 266760 w 266400"/>
                <a:gd name="textAreaTop" fmla="*/ 0 h 266400"/>
                <a:gd name="textAreaBottom" fmla="*/ 266760 h 266400"/>
              </a:gdLst>
              <a:ahLst/>
              <a:cxnLst/>
              <a:rect l="textAreaLeft" t="textAreaTop" r="textAreaRight" b="textAreaBottom"/>
              <a:pathLst>
                <a:path w="19982" h="19982">
                  <a:moveTo>
                    <a:pt x="17015" y="1170"/>
                  </a:moveTo>
                  <a:cubicBezTo>
                    <a:pt x="17989" y="1170"/>
                    <a:pt x="18810" y="1993"/>
                    <a:pt x="18810" y="2966"/>
                  </a:cubicBezTo>
                  <a:lnTo>
                    <a:pt x="18810" y="17015"/>
                  </a:lnTo>
                  <a:cubicBezTo>
                    <a:pt x="18810" y="17990"/>
                    <a:pt x="17989" y="18811"/>
                    <a:pt x="17015" y="18811"/>
                  </a:cubicBezTo>
                  <a:lnTo>
                    <a:pt x="2965" y="18811"/>
                  </a:lnTo>
                  <a:cubicBezTo>
                    <a:pt x="1992" y="18811"/>
                    <a:pt x="1170" y="17990"/>
                    <a:pt x="1170" y="17015"/>
                  </a:cubicBezTo>
                  <a:lnTo>
                    <a:pt x="1170" y="2966"/>
                  </a:lnTo>
                  <a:cubicBezTo>
                    <a:pt x="1170" y="1993"/>
                    <a:pt x="1992" y="1170"/>
                    <a:pt x="2965" y="1170"/>
                  </a:cubicBezTo>
                  <a:close/>
                  <a:moveTo>
                    <a:pt x="2965" y="1"/>
                  </a:moveTo>
                  <a:cubicBezTo>
                    <a:pt x="1347" y="1"/>
                    <a:pt x="0" y="1349"/>
                    <a:pt x="0" y="2966"/>
                  </a:cubicBezTo>
                  <a:lnTo>
                    <a:pt x="0" y="17015"/>
                  </a:lnTo>
                  <a:cubicBezTo>
                    <a:pt x="0" y="18635"/>
                    <a:pt x="1348" y="19982"/>
                    <a:pt x="2965" y="19982"/>
                  </a:cubicBezTo>
                  <a:lnTo>
                    <a:pt x="17017" y="19982"/>
                  </a:lnTo>
                  <a:cubicBezTo>
                    <a:pt x="18635" y="19982"/>
                    <a:pt x="19981" y="18634"/>
                    <a:pt x="19981" y="17015"/>
                  </a:cubicBezTo>
                  <a:lnTo>
                    <a:pt x="19981" y="2966"/>
                  </a:lnTo>
                  <a:cubicBezTo>
                    <a:pt x="19981" y="1347"/>
                    <a:pt x="18633" y="1"/>
                    <a:pt x="1701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4" name="Google Shape;331;p41"/>
          <p:cNvSpPr/>
          <p:nvPr/>
        </p:nvSpPr>
        <p:spPr>
          <a:xfrm>
            <a:off x="8525880" y="408960"/>
            <a:ext cx="268200" cy="273960"/>
          </a:xfrm>
          <a:custGeom>
            <a:avLst/>
            <a:gdLst>
              <a:gd name="textAreaLeft" fmla="*/ 0 w 268200"/>
              <a:gd name="textAreaRight" fmla="*/ 268560 w 268200"/>
              <a:gd name="textAreaTop" fmla="*/ 0 h 273960"/>
              <a:gd name="textAreaBottom" fmla="*/ 274320 h 273960"/>
            </a:gdLst>
            <a:ahLst/>
            <a:cxnLst/>
            <a:rect l="textAreaLeft" t="textAreaTop" r="textAreaRight" b="textAreaBottom"/>
            <a:pathLst>
              <a:path w="6712561" h="6860069">
                <a:moveTo>
                  <a:pt x="3994869" y="2904749"/>
                </a:moveTo>
                <a:lnTo>
                  <a:pt x="6493788" y="0"/>
                </a:lnTo>
                <a:lnTo>
                  <a:pt x="5901628" y="0"/>
                </a:lnTo>
                <a:lnTo>
                  <a:pt x="3731848" y="2522189"/>
                </a:lnTo>
                <a:lnTo>
                  <a:pt x="1998833" y="0"/>
                </a:lnTo>
                <a:lnTo>
                  <a:pt x="0" y="0"/>
                </a:lnTo>
                <a:lnTo>
                  <a:pt x="2620640" y="3813966"/>
                </a:lnTo>
                <a:lnTo>
                  <a:pt x="0" y="6860070"/>
                </a:lnTo>
                <a:lnTo>
                  <a:pt x="592216" y="6860070"/>
                </a:lnTo>
                <a:lnTo>
                  <a:pt x="2883548" y="4196581"/>
                </a:lnTo>
                <a:lnTo>
                  <a:pt x="4713728" y="6860070"/>
                </a:lnTo>
                <a:lnTo>
                  <a:pt x="6712561" y="6860070"/>
                </a:lnTo>
                <a:lnTo>
                  <a:pt x="3994757" y="2904749"/>
                </a:lnTo>
                <a:lnTo>
                  <a:pt x="3994925" y="2904749"/>
                </a:lnTo>
                <a:close/>
                <a:moveTo>
                  <a:pt x="3183768" y="3847528"/>
                </a:moveTo>
                <a:lnTo>
                  <a:pt x="2918230" y="3467765"/>
                </a:lnTo>
                <a:lnTo>
                  <a:pt x="805563" y="445770"/>
                </a:lnTo>
                <a:lnTo>
                  <a:pt x="1715115" y="445770"/>
                </a:lnTo>
                <a:lnTo>
                  <a:pt x="3420106" y="2884611"/>
                </a:lnTo>
                <a:lnTo>
                  <a:pt x="3685644" y="3264375"/>
                </a:lnTo>
                <a:lnTo>
                  <a:pt x="5901907" y="6434494"/>
                </a:lnTo>
                <a:lnTo>
                  <a:pt x="4992356" y="6434494"/>
                </a:lnTo>
                <a:lnTo>
                  <a:pt x="3183824" y="3847640"/>
                </a:lnTo>
                <a:lnTo>
                  <a:pt x="3183824" y="3847472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105" name="Google Shape;332;p41"/>
          <p:cNvCxnSpPr/>
          <p:nvPr/>
        </p:nvCxnSpPr>
        <p:spPr>
          <a:xfrm>
            <a:off x="-91800" y="4039200"/>
            <a:ext cx="93279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Blue Business Plan by Slidesgo">
  <a:themeElements>
    <a:clrScheme name="Simple Light">
      <a:dk1>
        <a:srgbClr val="000000"/>
      </a:dk1>
      <a:lt1>
        <a:srgbClr val="30a0ff"/>
      </a:lt1>
      <a:dk2>
        <a:srgbClr val="000000"/>
      </a:dk2>
      <a:lt2>
        <a:srgbClr val="e7edf2"/>
      </a:lt2>
      <a:accent1>
        <a:srgbClr val="8dcbfd"/>
      </a:accent1>
      <a:accent2>
        <a:srgbClr val="66666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LibreOffice/25.2.4.3$Linux_X86_64 LibreOffice_project/520$Build-3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2025-09-12T09:56:24Z</dcterms:created>
  <dc:creator>Unknown Creator</dc:creator>
  <dc:description/>
  <dc:language>en-US</dc:language>
  <cp:lastModifiedBy>Unknown Creator</cp:lastModifiedBy>
  <dcterms:modified xsi:type="dcterms:W3CDTF">2025-09-12T09:56:24Z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